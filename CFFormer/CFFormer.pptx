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handoutMasterIdLst>
    <p:handoutMasterId r:id="rId22"/>
  </p:handoutMasterIdLst>
  <p:sldIdLst>
    <p:sldId id="256" r:id="rId3"/>
    <p:sldId id="257" r:id="rId4"/>
    <p:sldId id="258" r:id="rId5"/>
    <p:sldId id="259" r:id="rId6"/>
    <p:sldId id="270" r:id="rId7"/>
    <p:sldId id="271" r:id="rId8"/>
    <p:sldId id="260" r:id="rId9"/>
    <p:sldId id="272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3" r:id="rId2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04000"/>
            <a:ext cx="5342400" cy="4140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04000"/>
            <a:ext cx="5342400" cy="4140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397600"/>
            <a:ext cx="9799200" cy="11052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5040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ea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9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9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9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1.xml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74.xml"/><Relationship Id="rId2" Type="http://schemas.openxmlformats.org/officeDocument/2006/relationships/tags" Target="../tags/tag73.xml"/><Relationship Id="rId1" Type="http://schemas.openxmlformats.org/officeDocument/2006/relationships/tags" Target="../tags/tag72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77.xml"/><Relationship Id="rId3" Type="http://schemas.openxmlformats.org/officeDocument/2006/relationships/image" Target="../media/image1.png"/><Relationship Id="rId2" Type="http://schemas.openxmlformats.org/officeDocument/2006/relationships/tags" Target="../tags/tag76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0.xml"/><Relationship Id="rId3" Type="http://schemas.openxmlformats.org/officeDocument/2006/relationships/image" Target="../media/image2.png"/><Relationship Id="rId2" Type="http://schemas.openxmlformats.org/officeDocument/2006/relationships/tags" Target="../tags/tag79.xml"/><Relationship Id="rId1" Type="http://schemas.openxmlformats.org/officeDocument/2006/relationships/tags" Target="../tags/tag7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3.xml"/><Relationship Id="rId2" Type="http://schemas.openxmlformats.org/officeDocument/2006/relationships/tags" Target="../tags/tag82.xml"/><Relationship Id="rId1" Type="http://schemas.openxmlformats.org/officeDocument/2006/relationships/tags" Target="../tags/tag81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86.xml"/><Relationship Id="rId3" Type="http://schemas.openxmlformats.org/officeDocument/2006/relationships/image" Target="../media/image3.pn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2.xml"/><Relationship Id="rId3" Type="http://schemas.openxmlformats.org/officeDocument/2006/relationships/image" Target="../media/image4.pn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5.xml"/><Relationship Id="rId3" Type="http://schemas.openxmlformats.org/officeDocument/2006/relationships/image" Target="../media/image5.png"/><Relationship Id="rId2" Type="http://schemas.openxmlformats.org/officeDocument/2006/relationships/tags" Target="../tags/tag94.xml"/><Relationship Id="rId1" Type="http://schemas.openxmlformats.org/officeDocument/2006/relationships/tags" Target="../tags/tag93.xml"/></Relationships>
</file>

<file path=ppt/slides/_rels/slide1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98.xml"/><Relationship Id="rId3" Type="http://schemas.openxmlformats.org/officeDocument/2006/relationships/image" Target="../media/image6.png"/><Relationship Id="rId2" Type="http://schemas.openxmlformats.org/officeDocument/2006/relationships/tags" Target="../tags/tag97.xml"/><Relationship Id="rId1" Type="http://schemas.openxmlformats.org/officeDocument/2006/relationships/tags" Target="../tags/tag96.xml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1.xml"/><Relationship Id="rId3" Type="http://schemas.openxmlformats.org/officeDocument/2006/relationships/image" Target="../media/image7.png"/><Relationship Id="rId2" Type="http://schemas.openxmlformats.org/officeDocument/2006/relationships/tags" Target="../tags/tag100.xml"/><Relationship Id="rId1" Type="http://schemas.openxmlformats.org/officeDocument/2006/relationships/tags" Target="../tags/tag99.xml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4.xml"/><Relationship Id="rId3" Type="http://schemas.openxmlformats.org/officeDocument/2006/relationships/image" Target="../media/image8.png"/><Relationship Id="rId2" Type="http://schemas.openxmlformats.org/officeDocument/2006/relationships/tags" Target="../tags/tag103.xml"/><Relationship Id="rId1" Type="http://schemas.openxmlformats.org/officeDocument/2006/relationships/tags" Target="../tags/tag102.xml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07.xml"/><Relationship Id="rId3" Type="http://schemas.openxmlformats.org/officeDocument/2006/relationships/image" Target="../media/image9.png"/><Relationship Id="rId2" Type="http://schemas.openxmlformats.org/officeDocument/2006/relationships/tags" Target="../tags/tag106.xml"/><Relationship Id="rId1" Type="http://schemas.openxmlformats.org/officeDocument/2006/relationships/tags" Target="../tags/tag105.xml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10.xml"/><Relationship Id="rId3" Type="http://schemas.openxmlformats.org/officeDocument/2006/relationships/image" Target="../media/image10.png"/><Relationship Id="rId2" Type="http://schemas.openxmlformats.org/officeDocument/2006/relationships/tags" Target="../tags/tag109.xml"/><Relationship Id="rId1" Type="http://schemas.openxmlformats.org/officeDocument/2006/relationships/tags" Target="../tags/tag108.xml"/></Relationships>
</file>

<file path=ppt/slides/_rels/slide1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" Type="http://schemas.openxmlformats.org/officeDocument/2006/relationships/tags" Target="../tags/tag111.xml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116.xml"/><Relationship Id="rId2" Type="http://schemas.openxmlformats.org/officeDocument/2006/relationships/tags" Target="../tags/tag115.xml"/><Relationship Id="rId1" Type="http://schemas.openxmlformats.org/officeDocument/2006/relationships/tags" Target="../tags/tag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noAutofit/>
          </a:bodyPr>
          <a:p>
            <a:r>
              <a:rPr lang="en-US" altLang="zh-CN" sz="2800"/>
              <a:t>CFFormer: Cross CNN-Transformer Channel Attention and Spatial Feature Fusion for</a:t>
            </a:r>
            <a:br>
              <a:rPr lang="en-US" altLang="zh-CN" sz="2800"/>
            </a:br>
            <a:r>
              <a:rPr lang="en-US" altLang="zh-CN" sz="2800"/>
              <a:t>Improved Segmentation of Heterogeneous Medical Images</a:t>
            </a:r>
            <a:endParaRPr lang="en-US" altLang="zh-CN" sz="280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>
          <a:xfrm>
            <a:off x="1198800" y="4109040"/>
            <a:ext cx="9799200" cy="1472400"/>
          </a:xfrm>
        </p:spPr>
        <p:txBody>
          <a:bodyPr/>
          <a:p>
            <a:r>
              <a:rPr lang="en-US" altLang="zh-CN"/>
              <a:t>Author: Jiaxuan Li et al., 2025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Research Background &amp; Problem Definition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 fontScale="80000"/>
          </a:bodyPr>
          <a:p>
            <a:pPr marL="0" indent="0">
              <a:buNone/>
            </a:pP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</a:rPr>
              <a:t>The Importance of Medical Image Segmentation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r>
              <a:rPr lang="en-US" altLang="zh-CN"/>
              <a:t>Used in computer-aided diagnosis to locate tumors, lesions, organs, etc.</a:t>
            </a:r>
            <a:endParaRPr lang="en-US" altLang="zh-CN"/>
          </a:p>
          <a:p>
            <a:r>
              <a:rPr lang="en-US" altLang="zh-CN"/>
              <a:t>Requires pixel-level precise segmentation </a:t>
            </a:r>
            <a:endParaRPr lang="en-US" altLang="zh-CN"/>
          </a:p>
          <a:p>
            <a:pPr marL="0" indent="0">
              <a:buNone/>
            </a:pP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</a:rPr>
              <a:t>However, medical images generally have the following issues: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r>
              <a:rPr lang="en-US" altLang="zh-CN"/>
              <a:t>Poor image quality (noise, blurriness, low contrast)</a:t>
            </a:r>
            <a:endParaRPr lang="en-US" altLang="zh-CN"/>
          </a:p>
          <a:p>
            <a:r>
              <a:rPr lang="en-US" altLang="zh-CN"/>
              <a:t>Large differences among different modalities (US/CT/MRI/endoscopy, etc.)</a:t>
            </a:r>
            <a:endParaRPr lang="en-US" altLang="zh-CN"/>
          </a:p>
          <a:p>
            <a:r>
              <a:rPr lang="en-US" altLang="zh-CN"/>
              <a:t>Blurred target boundaries and significant size variations </a:t>
            </a:r>
            <a:endParaRPr lang="en-US" altLang="zh-CN"/>
          </a:p>
          <a:p>
            <a:pPr marL="0" indent="0">
              <a:buNone/>
            </a:pP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</a:rPr>
              <a:t>Core issue: 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en-US"/>
              <a:t>➡</a:t>
            </a:r>
            <a:r>
              <a:rPr lang="en-US" altLang="zh-CN"/>
              <a:t> The existing models perform poorly on "heterogeneous medical images", as CNN lacks global context and Transformer lacks local details.</a:t>
            </a:r>
            <a:endParaRPr lang="en-US" altLang="zh-CN"/>
          </a:p>
          <a:p>
            <a:pPr marL="0" indent="0">
              <a:buNone/>
            </a:pPr>
            <a:r>
              <a:rPr lang="en-US" altLang="en-US"/>
              <a:t>➡</a:t>
            </a:r>
            <a:r>
              <a:rPr lang="en-US" altLang="zh-CN"/>
              <a:t> How can we combine the advantages of CNN and Transformer to enhance cross-modal robustness?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Method Introduction: CFFormer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CFFormer is a U-shaped CNN-Transformer hybrid encoder model.</a:t>
            </a:r>
            <a:endParaRPr lang="en-US" altLang="zh-CN" sz="24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Framework Structure</a:t>
            </a:r>
            <a:endParaRPr lang="en-US" altLang="zh-CN" sz="24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CNN Encoder (ResNet34): Extracts local details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Transformer Encoder (SwinV2): Extracts global dependencies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The two are complementarily integrated at each layer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Method Introduction: CFFormer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marL="0" indent="0">
              <a:buNone/>
            </a:pP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CFFormer is a U-shaped CNN-Transformer hybrid encoder model.</a:t>
            </a:r>
            <a:endParaRPr lang="en-US" altLang="zh-CN" sz="24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Core Module </a:t>
            </a:r>
            <a:r>
              <a:rPr lang="en-US" altLang="en-US" sz="2000">
                <a:latin typeface="PingFang SC" panose="020B0400000000000000" charset="-122"/>
                <a:ea typeface="PingFang SC" panose="020B0400000000000000" charset="-122"/>
              </a:rPr>
              <a:t>①</a:t>
            </a: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: CFCA - Cross-Channel Feature Attention Module 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Function: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Establish a channel-level correlation matrix between CNN and Transformer features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Filter out redundant features and enhance semantic alignment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Enable CNN to obtain global information and Transformer to acquire local details 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149225" y="292100"/>
            <a:ext cx="11428095" cy="627316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rcRect r="4429"/>
          <a:stretch>
            <a:fillRect/>
          </a:stretch>
        </p:blipFill>
        <p:spPr>
          <a:xfrm>
            <a:off x="2570480" y="325120"/>
            <a:ext cx="6641465" cy="59613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Method Introduction: CFFormer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CFFormer is a U-shaped CNN-Transformer hybrid encoder model.</a:t>
            </a:r>
            <a:endParaRPr lang="en-US" altLang="zh-CN" sz="24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2.3 Core Module </a:t>
            </a:r>
            <a:r>
              <a:rPr lang="en-US" altLang="en-US" sz="2000">
                <a:latin typeface="PingFang SC" panose="020B0400000000000000" charset="-122"/>
                <a:ea typeface="PingFang SC" panose="020B0400000000000000" charset="-122"/>
              </a:rPr>
              <a:t>②</a:t>
            </a: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: XFF - Spatial Feature Fusion Module 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Function: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Merge local-global features of CNN/Transformer in the spatial dimension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Reduce spatial semantic differences using 3</a:t>
            </a:r>
            <a:r>
              <a:rPr lang="en-US" altLang="en-US" sz="2000">
                <a:latin typeface="PingFang SC" panose="020B0400000000000000" charset="-122"/>
                <a:ea typeface="PingFang SC" panose="020B0400000000000000" charset="-122"/>
              </a:rPr>
              <a:t>×</a:t>
            </a: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3 and 5</a:t>
            </a:r>
            <a:r>
              <a:rPr lang="en-US" altLang="en-US" sz="2000">
                <a:latin typeface="PingFang SC" panose="020B0400000000000000" charset="-122"/>
                <a:ea typeface="PingFang SC" panose="020B0400000000000000" charset="-122"/>
              </a:rPr>
              <a:t>×</a:t>
            </a: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5 convolutions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Output skip connections for the decoder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截屏2025-11-20 上午11.23.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910" y="608330"/>
            <a:ext cx="6574790" cy="547878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en-US" altLang="zh-CN"/>
              <a:t>Method Introduction: CFFormer 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400" b="1">
                <a:latin typeface="PingFang SC Semibold" panose="020B0400000000000000" charset="-122"/>
                <a:ea typeface="PingFang SC Semibold" panose="020B0400000000000000" charset="-122"/>
              </a:rPr>
              <a:t>CFFormer is a U-shaped CNN-Transformer hybrid encoder model.</a:t>
            </a:r>
            <a:endParaRPr lang="en-US" altLang="zh-CN" sz="24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>
              <a:buFont typeface="Wingdings" panose="05000000000000000000" charset="0"/>
              <a:buChar char=""/>
            </a:pPr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Decoder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Similar to U-Net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Upsampling + concatenation with XFF output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pPr/>
            <a:r>
              <a:rPr lang="en-US" altLang="zh-CN" sz="2000">
                <a:latin typeface="PingFang SC" panose="020B0400000000000000" charset="-122"/>
                <a:ea typeface="PingFang SC" panose="020B0400000000000000" charset="-122"/>
              </a:rPr>
              <a:t>Output segmentation mask</a:t>
            </a:r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  <a:p>
            <a:endParaRPr lang="en-US" altLang="zh-CN" sz="2000">
              <a:latin typeface="PingFang SC" panose="020B0400000000000000" charset="-122"/>
              <a:ea typeface="PingFang SC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Dataset Introduction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截屏2025-11-20 上午11.12.33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>
                  <a:alpha val="100000"/>
                </a:srgbClr>
              </a:clrFrom>
              <a:clrTo>
                <a:srgbClr val="FFFFFF">
                  <a:alpha val="100000"/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39825" y="820420"/>
            <a:ext cx="9679940" cy="579374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Experimental Result（BUSI）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截屏2025-11-20 上午11.15.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125" y="1697355"/>
            <a:ext cx="7277100" cy="39243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Experimental Result（ISIC）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截屏2025-11-20 上午11.15.4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0275" y="1920875"/>
            <a:ext cx="7137400" cy="38989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Experimental </a:t>
            </a:r>
            <a:r>
              <a:rPr lang="en-US" altLang="zh-CN"/>
              <a:t>Result（Kvasir-SEG）</a:t>
            </a:r>
            <a:endParaRPr lang="en-US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4" name="图片 3" descr="截屏2025-11-20 上午11.16.0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22245" y="2115185"/>
            <a:ext cx="7124700" cy="38735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Visualized results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9450" y="1490345"/>
            <a:ext cx="1082611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Visualized results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95325" y="1490345"/>
            <a:ext cx="1079436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/>
              <a:t>Visualized results</a:t>
            </a:r>
            <a:endParaRPr lang="en-US" altLang="zh-CN"/>
          </a:p>
        </p:txBody>
      </p:sp>
      <p:pic>
        <p:nvPicPr>
          <p:cNvPr id="4" name="内容占位符 3"/>
          <p:cNvPicPr>
            <a:picLocks noChangeAspect="1"/>
          </p:cNvPicPr>
          <p:nvPr>
            <p:ph idx="1"/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679450" y="1490345"/>
            <a:ext cx="10826115" cy="47593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r>
              <a:rPr lang="en-US" altLang="zh-CN">
                <a:sym typeface="+mn-ea"/>
              </a:rPr>
              <a:t>Summary 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>
              <a:buNone/>
            </a:pP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</a:rPr>
              <a:t>Summary of Contributions to the Paper</a:t>
            </a:r>
            <a:endParaRPr lang="en-US" altLang="zh-CN" sz="2000" b="1">
              <a:latin typeface="PingFang SC Semibold" panose="020B0400000000000000" charset="-122"/>
              <a:ea typeface="PingFang SC Semibold" panose="020B0400000000000000" charset="-122"/>
            </a:endParaRPr>
          </a:p>
          <a:p>
            <a:pPr marL="0" indent="0">
              <a:buNone/>
            </a:pPr>
            <a:r>
              <a:rPr lang="en-US" altLang="zh-CN"/>
              <a:t>1. Proposed CFCA: Addressing the channel differences between CNN and Transformer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2. Proposed XFF: Integrating spatial local-global features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3. Multi-modal experiments cover US/CT/MRI/endoscopy/dermoscopy</a:t>
            </a:r>
            <a:endParaRPr lang="en-US" altLang="zh-CN"/>
          </a:p>
          <a:p>
            <a:pPr marL="0" indent="0">
              <a:buNone/>
            </a:pPr>
            <a:r>
              <a:rPr lang="en-US" altLang="zh-CN"/>
              <a:t>4. Completely outperformed SOTA on 8 datasets</a:t>
            </a:r>
            <a:endParaRPr lang="en-US" altLang="zh-CN"/>
          </a:p>
          <a:p>
            <a:pPr marL="0" indent="0">
              <a:buNone/>
            </a:pP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</a:rPr>
              <a:t>Model advantages: </a:t>
            </a:r>
            <a:r>
              <a:rPr lang="en-US" altLang="zh-CN"/>
              <a:t>Strong robustness, excellent cross-modal generalization, outstanding performance on low-quality medical images</a:t>
            </a:r>
            <a:endParaRPr lang="en-US" altLang="zh-CN"/>
          </a:p>
          <a:p>
            <a:pPr marL="0" indent="0">
              <a:buNone/>
            </a:pPr>
            <a:r>
              <a:rPr lang="en-US" altLang="zh-CN" sz="2000" b="1">
                <a:latin typeface="PingFang SC Semibold" panose="020B0400000000000000" charset="-122"/>
                <a:ea typeface="PingFang SC Semibold" panose="020B0400000000000000" charset="-122"/>
              </a:rPr>
              <a:t>Potential limitations: </a:t>
            </a:r>
            <a:r>
              <a:rPr lang="en-US" altLang="zh-CN"/>
              <a:t>The structure is relatively complex, the reasoning speed is lower than that of pure CNN, and the Transformer has high requirements for memory.</a:t>
            </a:r>
            <a:endParaRPr lang="en-US" altLang="zh-CN"/>
          </a:p>
        </p:txBody>
      </p:sp>
    </p:spTree>
    <p:custDataLst>
      <p:tags r:id="rId3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/>
          <a:p>
            <a:pPr marL="0" indent="0" algn="ctr">
              <a:buNone/>
            </a:pPr>
            <a:r>
              <a:rPr lang="en-US" altLang="zh-CN" sz="2800" b="1">
                <a:latin typeface="PingFang SC Semibold" panose="020B0400000000000000" charset="-122"/>
                <a:ea typeface="PingFang SC Semibold" panose="020B0400000000000000" charset="-122"/>
              </a:rPr>
              <a:t>Thank you for listening.</a:t>
            </a:r>
            <a:endParaRPr lang="en-US" altLang="zh-CN" sz="2800" b="1">
              <a:latin typeface="PingFang SC Semibold" panose="020B0400000000000000" charset="-122"/>
              <a:ea typeface="PingFang SC Semibold" panose="020B0400000000000000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WPS">
      <a:majorFont>
        <a:latin typeface="苹方-简"/>
        <a:ea typeface="苹方-简"/>
        <a:cs typeface=""/>
      </a:majorFont>
      <a:minorFont>
        <a:latin typeface="苹方-简"/>
        <a:ea typeface="苹方-简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2766</Words>
  <Application>WPS 表格</Application>
  <PresentationFormat>宽屏</PresentationFormat>
  <Paragraphs>83</Paragraphs>
  <Slides>18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Wingdings</vt:lpstr>
      <vt:lpstr>苹方-简</vt:lpstr>
      <vt:lpstr>微软雅黑</vt:lpstr>
      <vt:lpstr>汉仪旗黑</vt:lpstr>
      <vt:lpstr>宋体</vt:lpstr>
      <vt:lpstr>Arial Unicode MS</vt:lpstr>
      <vt:lpstr>汉仪书宋二KW</vt:lpstr>
      <vt:lpstr>PingFang SC Semibold</vt:lpstr>
      <vt:lpstr>PingFang SC</vt:lpstr>
      <vt:lpstr>WPS</vt:lpstr>
      <vt:lpstr>PowerPoint 演示文稿</vt:lpstr>
      <vt:lpstr>PowerPoint 演示文稿</vt:lpstr>
      <vt:lpstr>PowerPoint 演示文稿</vt:lpstr>
      <vt:lpstr>Method Introduction: CFFormer </vt:lpstr>
      <vt:lpstr>PowerPoint 演示文稿</vt:lpstr>
      <vt:lpstr>PowerPoint 演示文稿</vt:lpstr>
      <vt:lpstr>Method Introduction: CFFormer </vt:lpstr>
      <vt:lpstr>PowerPoint 演示文稿</vt:lpstr>
      <vt:lpstr>Method Introduction: CFFormer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haoshilong</cp:lastModifiedBy>
  <cp:revision>164</cp:revision>
  <dcterms:created xsi:type="dcterms:W3CDTF">2025-11-20T03:26:43Z</dcterms:created>
  <dcterms:modified xsi:type="dcterms:W3CDTF">2025-11-20T03:26:43Z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2052-12.1.23540.23540</vt:lpwstr>
  </property>
  <property fmtid="{D5CDD505-2E9C-101B-9397-08002B2CF9AE}" pid="3" name="ICV">
    <vt:lpwstr>CE57B3AF75C092EF32781E6980D2FDD0_41</vt:lpwstr>
  </property>
</Properties>
</file>